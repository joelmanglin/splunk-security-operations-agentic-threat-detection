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c22f2a8f714879" /><Relationship Type="http://schemas.openxmlformats.org/officeDocument/2006/relationships/extended-properties" Target="/docProps/app.xml" Id="R77ec793d295f4e40" /><Relationship Type="http://schemas.openxmlformats.org/officeDocument/2006/relationships/officeDocument" Target="/ppt/presentation.xml" Id="Rb65322a094a641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0dd92150bf4f62"/>
  </p:sldMasterIdLst>
  <p:notesMasterIdLst>
    <p:notesMasterId xmlns:r="http://schemas.openxmlformats.org/officeDocument/2006/relationships" r:id="R6ceb7ee49e9b47a6"/>
  </p:notesMasterIdLst>
  <p:sldIdLst>
    <p:sldId xmlns:r="http://schemas.openxmlformats.org/officeDocument/2006/relationships" id="256" r:id="R9bafa8b22dab473f"/>
    <p:sldId xmlns:r="http://schemas.openxmlformats.org/officeDocument/2006/relationships" id="257" r:id="Rc971e9084caa4cf4"/>
    <p:sldId xmlns:r="http://schemas.openxmlformats.org/officeDocument/2006/relationships" id="258" r:id="R34c0efaf260d4eb8"/>
    <p:sldId xmlns:r="http://schemas.openxmlformats.org/officeDocument/2006/relationships" id="259" r:id="R79d0a3e770564440"/>
    <p:sldId xmlns:r="http://schemas.openxmlformats.org/officeDocument/2006/relationships" id="260" r:id="R145ae2dadadf4b5b"/>
    <p:sldId xmlns:r="http://schemas.openxmlformats.org/officeDocument/2006/relationships" id="261" r:id="R910f484c85aa4e2a"/>
    <p:sldId xmlns:r="http://schemas.openxmlformats.org/officeDocument/2006/relationships" id="262" r:id="Rd8d1cc60225f41ec"/>
    <p:sldId xmlns:r="http://schemas.openxmlformats.org/officeDocument/2006/relationships" id="263" r:id="Rfe5f69cbf9504f87"/>
    <p:sldId xmlns:r="http://schemas.openxmlformats.org/officeDocument/2006/relationships" id="264" r:id="Rd8d3c939f9e842bc"/>
    <p:sldId xmlns:r="http://schemas.openxmlformats.org/officeDocument/2006/relationships" id="265" r:id="R2a9b57d889784297"/>
    <p:sldId xmlns:r="http://schemas.openxmlformats.org/officeDocument/2006/relationships" id="266" r:id="R3d6f052e2d904b78"/>
    <p:sldId xmlns:r="http://schemas.openxmlformats.org/officeDocument/2006/relationships" id="267" r:id="Re1a708d4144b4d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85b4914ff41d0" /><Relationship Type="http://schemas.openxmlformats.org/officeDocument/2006/relationships/slideMaster" Target="/ppt/slideMasters/slideMaster1.xml" Id="Re50dd92150bf4f62" /><Relationship Type="http://schemas.openxmlformats.org/officeDocument/2006/relationships/notesMaster" Target="/ppt/notesMasters/notesMaster1.xml" Id="R6ceb7ee49e9b47a6" /><Relationship Type="http://schemas.openxmlformats.org/officeDocument/2006/relationships/presProps" Target="/ppt/presProps.xml" Id="Rbbb4d661c9434ebe" /><Relationship Type="http://schemas.openxmlformats.org/officeDocument/2006/relationships/tableStyles" Target="/ppt/tableStyles.xml" Id="Ra60b335db64e4105" /><Relationship Type="http://schemas.openxmlformats.org/officeDocument/2006/relationships/slide" Target="/ppt/slides/slide1.xml" Id="R9bafa8b22dab473f" /><Relationship Type="http://schemas.openxmlformats.org/officeDocument/2006/relationships/slide" Target="/ppt/slides/slide2.xml" Id="Rc971e9084caa4cf4" /><Relationship Type="http://schemas.openxmlformats.org/officeDocument/2006/relationships/slide" Target="/ppt/slides/slide3.xml" Id="R34c0efaf260d4eb8" /><Relationship Type="http://schemas.openxmlformats.org/officeDocument/2006/relationships/slide" Target="/ppt/slides/slide4.xml" Id="R79d0a3e770564440" /><Relationship Type="http://schemas.openxmlformats.org/officeDocument/2006/relationships/slide" Target="/ppt/slides/slide5.xml" Id="R145ae2dadadf4b5b" /><Relationship Type="http://schemas.openxmlformats.org/officeDocument/2006/relationships/slide" Target="/ppt/slides/slide6.xml" Id="R910f484c85aa4e2a" /><Relationship Type="http://schemas.openxmlformats.org/officeDocument/2006/relationships/slide" Target="/ppt/slides/slide7.xml" Id="Rd8d1cc60225f41ec" /><Relationship Type="http://schemas.openxmlformats.org/officeDocument/2006/relationships/slide" Target="/ppt/slides/slide8.xml" Id="Rfe5f69cbf9504f87" /><Relationship Type="http://schemas.openxmlformats.org/officeDocument/2006/relationships/slide" Target="/ppt/slides/slide9.xml" Id="Rd8d3c939f9e842bc" /><Relationship Type="http://schemas.openxmlformats.org/officeDocument/2006/relationships/slide" Target="/ppt/slides/slide10.xml" Id="R2a9b57d889784297" /><Relationship Type="http://schemas.openxmlformats.org/officeDocument/2006/relationships/slide" Target="/ppt/slides/slide11.xml" Id="R3d6f052e2d904b78" /><Relationship Type="http://schemas.openxmlformats.org/officeDocument/2006/relationships/slide" Target="/ppt/slides/slide12.xml" Id="Re1a708d4144b4d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883d64c9f541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086b071f764540" /><Relationship Type="http://schemas.openxmlformats.org/officeDocument/2006/relationships/notesMaster" Target="/ppt/notesMasters/notesMaster1.xml" Id="R0cc96053ba2c41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edfd8e4ffe4c72" /><Relationship Type="http://schemas.openxmlformats.org/officeDocument/2006/relationships/notesMaster" Target="/ppt/notesMasters/notesMaster1.xml" Id="R7674b59d61f34c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dcf72252e54d30" /><Relationship Type="http://schemas.openxmlformats.org/officeDocument/2006/relationships/notesMaster" Target="/ppt/notesMasters/notesMaster1.xml" Id="Re34321826b6544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db5aeac29740df" /><Relationship Type="http://schemas.openxmlformats.org/officeDocument/2006/relationships/notesMaster" Target="/ppt/notesMasters/notesMaster1.xml" Id="Rf34cea2a3c3046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2cccb96eab437b" /><Relationship Type="http://schemas.openxmlformats.org/officeDocument/2006/relationships/notesMaster" Target="/ppt/notesMasters/notesMaster1.xml" Id="Race5033a593f49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4f27dadaed4519" /><Relationship Type="http://schemas.openxmlformats.org/officeDocument/2006/relationships/notesMaster" Target="/ppt/notesMasters/notesMaster1.xml" Id="R9262aa97c04e42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d3412c037348f6" /><Relationship Type="http://schemas.openxmlformats.org/officeDocument/2006/relationships/notesMaster" Target="/ppt/notesMasters/notesMaster1.xml" Id="Rdcc9bcfd9e634f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354e4408574ec6" /><Relationship Type="http://schemas.openxmlformats.org/officeDocument/2006/relationships/notesMaster" Target="/ppt/notesMasters/notesMaster1.xml" Id="R947b8cce1e1a48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62ae1363d247c7" /><Relationship Type="http://schemas.openxmlformats.org/officeDocument/2006/relationships/notesMaster" Target="/ppt/notesMasters/notesMaster1.xml" Id="Rac2640ab88894e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4cd45f81074acd" /><Relationship Type="http://schemas.openxmlformats.org/officeDocument/2006/relationships/notesMaster" Target="/ppt/notesMasters/notesMaster1.xml" Id="R526cb762cf554c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45aec5216e4121" /><Relationship Type="http://schemas.openxmlformats.org/officeDocument/2006/relationships/notesMaster" Target="/ppt/notesMasters/notesMaster1.xml" Id="Rc75e7f64b68f47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743a3c304f4af8" /><Relationship Type="http://schemas.openxmlformats.org/officeDocument/2006/relationships/notesMaster" Target="/ppt/notesMasters/notesMaster1.xml" Id="R96996d87379141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this is a working SOC lab, not just a write-up.</a:t>
            </a:r>
          </a:p>
          <a:p xmlns:a="http://schemas.openxmlformats.org/drawingml/2006/main">
            <a:r>
              <a:t>Emphasize that it combines platform engineering, detection engineering, dashboards, and analyst automation.</a:t>
            </a:r>
          </a:p>
          <a:p xmlns:a="http://schemas.openxmlformats.org/drawingml/2006/main">
            <a:r>
              <a:t>The proof points are custom indexes, dashboards, indexed events, and the agentic triage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lab around employer value: it demonstrates both tool fluency and investigation judgment.</a:t>
            </a:r>
          </a:p>
          <a:p xmlns:a="http://schemas.openxmlformats.org/drawingml/2006/main">
            <a:r>
              <a:t>Point out that the project is practical because it starts with data onboarding and ends with analyst-ready reports.</a:t>
            </a:r>
          </a:p>
          <a:p xmlns:a="http://schemas.openxmlformats.org/drawingml/2006/main">
            <a:r>
              <a:t>This slide helps non-technical recruiters understand why the lab is more than a dashboard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left to right: telemetry enters Splunk, Splunk normalizes it, dashboards and SPL expose investigations, and the agent triages the evidence.</a:t>
            </a:r>
          </a:p>
          <a:p xmlns:a="http://schemas.openxmlformats.org/drawingml/2006/main">
            <a:r>
              <a:t>Emphasize that this architecture mirrors a real SOC pipeline at portfolio scale.</a:t>
            </a:r>
          </a:p>
          <a:p xmlns:a="http://schemas.openxmlformats.org/drawingml/2006/main">
            <a:r>
              <a:t>Mention that optional live telemetry exists, but the project is safe because it is controlled and permission-based.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proves the lab is operational locally, not conceptual.</a:t>
            </a:r>
          </a:p>
          <a:p xmlns:a="http://schemas.openxmlformats.org/drawingml/2006/main">
            <a:r>
              <a:t>Call out the ports: web UI, management API for the agent, HEC for future ingestion, and UDP syslog for network-style logs.</a:t>
            </a:r>
          </a:p>
          <a:p xmlns:a="http://schemas.openxmlformats.org/drawingml/2006/main">
            <a:r>
              <a:t>Mention the install script reloads the app and uses oneshot ingestion to populate the indexes.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prove the data was actually loaded into Splunk.</a:t>
            </a:r>
          </a:p>
          <a:p xmlns:a="http://schemas.openxmlformats.org/drawingml/2006/main">
            <a:r>
              <a:t>Explain each index: identity, web/API, endpoint, cloud, and network.</a:t>
            </a:r>
          </a:p>
          <a:p xmlns:a="http://schemas.openxmlformats.org/drawingml/2006/main">
            <a:r>
              <a:t>Mention that the generated data includes normal noise plus deliberate attack storylines for investigation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how the dashboards are organized around analyst workflows.</a:t>
            </a:r>
          </a:p>
          <a:p xmlns:a="http://schemas.openxmlformats.org/drawingml/2006/main">
            <a:r>
              <a:t>Point out that the views are packaged inside the Splunk app, which is stronger than ad hoc saved searches.</a:t>
            </a:r>
          </a:p>
          <a:p xmlns:a="http://schemas.openxmlformats.org/drawingml/2006/main">
            <a:r>
              <a:t>Recruiter takeaway: this shows dashboard design and domain-specific SOC thinking.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detection engineering slide.</a:t>
            </a:r>
          </a:p>
          <a:p xmlns:a="http://schemas.openxmlformats.org/drawingml/2006/main">
            <a:r>
              <a:t>Mention that the SPL is not just counting events; it uses enrichment, grouping, pivots, and risk-style logic.</a:t>
            </a:r>
          </a:p>
          <a:p xmlns:a="http://schemas.openxmlformats.org/drawingml/2006/main">
            <a:r>
              <a:t>Tie each detection back to an analyst question: who is affected, where did it come from, and what should be investigated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agentic here means the tool chooses detection tasks, runs them, interprets results, and produces a report.</a:t>
            </a:r>
          </a:p>
          <a:p xmlns:a="http://schemas.openxmlformats.org/drawingml/2006/main">
            <a:r>
              <a:t>Stress the safety boundary: it does not take containment action.</a:t>
            </a:r>
          </a:p>
          <a:p xmlns:a="http://schemas.openxmlformats.org/drawingml/2006/main">
            <a:r>
              <a:t>This is useful in interviews because it demonstrates automation without overstating autonomous security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if a recruiter or interviewer asks how the lab is run.</a:t>
            </a:r>
          </a:p>
          <a:p xmlns:a="http://schemas.openxmlformats.org/drawingml/2006/main">
            <a:r>
              <a:t>The core operations are start Splunk, install the app and data, validate indexes, run dashboards, and execute the agent.</a:t>
            </a:r>
          </a:p>
          <a:p xmlns:a="http://schemas.openxmlformats.org/drawingml/2006/main">
            <a:r>
              <a:t>Mention that the optional telemetry scripts are permission-based and intended for owned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script for the live conversation.</a:t>
            </a:r>
          </a:p>
          <a:p xmlns:a="http://schemas.openxmlformats.org/drawingml/2006/main">
            <a:r>
              <a:t>The strongest presentation flow is: working system, indexed data, dashboards, detection logic, agent triage, and safety boundary.</a:t>
            </a:r>
          </a:p>
          <a:p xmlns:a="http://schemas.openxmlformats.org/drawingml/2006/main">
            <a:r>
              <a:t>Keep the walkthrough concise and let screenshots support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important for cybersecurity interviews.</a:t>
            </a:r>
          </a:p>
          <a:p xmlns:a="http://schemas.openxmlformats.org/drawingml/2006/main">
            <a:r>
              <a:t>Make it clear that packet and traffic capture must only happen where permission exists.</a:t>
            </a:r>
          </a:p>
          <a:p xmlns:a="http://schemas.openxmlformats.org/drawingml/2006/main">
            <a:r>
              <a:t>The agent is intentionally read-only to keep the project responsible and defensible.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tying the artifact back to employable skills.</a:t>
            </a:r>
          </a:p>
          <a:p xmlns:a="http://schemas.openxmlformats.org/drawingml/2006/main">
            <a:r>
              <a:t>This project shows platform deployment, detection logic, dashboards, automation, documentation, and responsible security practice.</a:t>
            </a:r>
          </a:p>
          <a:p xmlns:a="http://schemas.openxmlformats.org/drawingml/2006/main">
            <a:r>
              <a:t>Invite the recruiter to review the README first because it includes screenshots, process steps, and scripts.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dc57d897c48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b0453238ed43c2" /><Relationship Type="http://schemas.openxmlformats.org/officeDocument/2006/relationships/slideLayout" Target="/ppt/slideLayouts/slideLayout1.xml" Id="R112d9b09d0f444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2d9b09d0f444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ced4abaa14cc1" /><Relationship Type="http://schemas.openxmlformats.org/officeDocument/2006/relationships/notesSlide" Target="/ppt/notesSlides/notesSlide1.xml" Id="Raa83d871d9fe44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ad49b930b4bfd" /><Relationship Type="http://schemas.openxmlformats.org/officeDocument/2006/relationships/notesSlide" Target="/ppt/notesSlides/notesSlide2.xml" Id="Rb851581666844f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42871e3264a8e" /><Relationship Type="http://schemas.openxmlformats.org/officeDocument/2006/relationships/notesSlide" Target="/ppt/notesSlides/notesSlide3.xml" Id="R825361763ba34b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ad111b1a349ca" /><Relationship Type="http://schemas.openxmlformats.org/officeDocument/2006/relationships/image" Target="/ppt/media/image.png" Id="Rfcffb7ea12b140ff" /><Relationship Type="http://schemas.openxmlformats.org/officeDocument/2006/relationships/notesSlide" Target="/ppt/notesSlides/notesSlide4.xml" Id="Rfe604c34b4fe4a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456cd492c47ac" /><Relationship Type="http://schemas.openxmlformats.org/officeDocument/2006/relationships/image" Target="/ppt/media/image2.png" Id="R39f1a8c68dfc4ff0" /><Relationship Type="http://schemas.openxmlformats.org/officeDocument/2006/relationships/notesSlide" Target="/ppt/notesSlides/notesSlide5.xml" Id="R6122ed8bcb3d42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3ba47be514a47" /><Relationship Type="http://schemas.openxmlformats.org/officeDocument/2006/relationships/image" Target="/ppt/media/image3.png" Id="Raff5d012807748ce" /><Relationship Type="http://schemas.openxmlformats.org/officeDocument/2006/relationships/notesSlide" Target="/ppt/notesSlides/notesSlide6.xml" Id="R666a78e21fe644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ee19dd89b4041" /><Relationship Type="http://schemas.openxmlformats.org/officeDocument/2006/relationships/image" Target="/ppt/media/image4.png" Id="Rf90d7ab8f526434f" /><Relationship Type="http://schemas.openxmlformats.org/officeDocument/2006/relationships/notesSlide" Target="/ppt/notesSlides/notesSlide7.xml" Id="R10829bbca10646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1032404b94af7" /><Relationship Type="http://schemas.openxmlformats.org/officeDocument/2006/relationships/image" Target="/ppt/media/image5.png" Id="Rb62a928892b9479e" /><Relationship Type="http://schemas.openxmlformats.org/officeDocument/2006/relationships/notesSlide" Target="/ppt/notesSlides/notesSlide8.xml" Id="Ra088ecca2c524d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53d32b40743d4" /><Relationship Type="http://schemas.openxmlformats.org/officeDocument/2006/relationships/notesSlide" Target="/ppt/notesSlides/notesSlide9.xml" Id="R83bbced03ad949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50ddcd8714c1e" /><Relationship Type="http://schemas.openxmlformats.org/officeDocument/2006/relationships/notesSlide" Target="/ppt/notesSlides/notesSlide10.xml" Id="R8bc56a5cccc141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5627bd25f4705" /><Relationship Type="http://schemas.openxmlformats.org/officeDocument/2006/relationships/notesSlide" Target="/ppt/notesSlides/notesSlide11.xml" Id="R7d8382ff750943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909e7e7694e01" /><Relationship Type="http://schemas.openxmlformats.org/officeDocument/2006/relationships/image" Target="/ppt/media/image6.png" Id="Rc1eac4199ff4433e" /><Relationship Type="http://schemas.openxmlformats.org/officeDocument/2006/relationships/notesSlide" Target="/ppt/notesSlides/notesSlide12.xml" Id="R45ad2a03922246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15DA6C-7E86-4C41-A46C-CB103BC2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52626-E334-4EC7-BAB6-5616959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8AD60-5A68-42C3-99EA-902F87E4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PORTFOLIO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41550-6BDB-4CF7-9766-6D5F9F2D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Splunk SOC Mastery Lab with Agentic Threat Triage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E97F5-B73D-46A9-838C-AE3BBFD9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Dockerized Splunk Enterprise, custom security telemetry, dashboards, SPL detections, and a read-only analyst agent that produces investigation reports.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E1306-BD51-423F-A17D-FBDBC53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858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1A464-AD01-437D-91AA-A61BF0F9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144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B27E4-E98A-4AC0-88AA-2AEB0670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669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Custom indexes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8D240-39F2-492A-8C91-FC4485F9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E4A8E-133F-46B2-932D-279448EC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908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FC203-4912-401B-B6FC-D69D913C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43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Dashboards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FE4B7-062C-4BBF-ABED-031B07FE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D10A8-C89F-4A4E-9F88-3EB14F50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672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273K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8BE14-08AD-442D-99D2-5825890F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19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Indexed 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80347-FA87-487D-B7B5-92A33597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Built to demonstrate Splunk mastery and SOC investigation 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DB1C2-0880-473E-B9B4-74D7348D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802CF-22B9-4B45-83B0-8F5BDA05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4773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51DEF5-A322-4801-9B6B-F12DD331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4B156-4557-469E-A4A9-DD2500F7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F605D-9431-4F1F-9C58-2B65D25D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RECRUITER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71D03-9A15-4231-B227-3DF62197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Why This Lab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1FCCC-05FE-4E09-9FBE-6F48D065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E1551-8C2E-45F1-9ED3-547BED50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619C5-694E-4BBB-A270-31DA3D43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644AB-8FAB-44F7-9A10-0F88BFAC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32223-E8FE-454E-A64D-0D9738E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Splunk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F4C7C-42ED-4406-BFA1-EE8BF638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D9B11-F42B-4BD9-84F0-E6BEA56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 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32B58-D4C6-430B-BD0E-75BD7356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A7A52-CFC1-48B0-B603-072E74F9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 indexes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FFF49-0613-4A80-AC2A-0C7E3DA0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E656B-230E-4511-99C0-EDEAE2FE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Sourcetypes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7AC19-9A8C-4D31-8724-A3CACAEC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77EBE-BB4D-4E8E-9D96-BA56AAD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searches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9F9AF-BDA8-4646-8557-DEA34443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57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Detection Engineering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9472A-B3F8-46A3-BB1E-EFDDAFD7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0FF75-8F8B-43E0-9CCA-227AB6EB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289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SPL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EC07B-1396-4428-A2D3-C086399C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EC85E-B139-40DB-9521-F518ADF6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scoring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586F3-7CB4-40FF-B38F-D72E9CEA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9435F-B637-424B-BF72-98A9A917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Identity threats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0356E-79A4-4E82-ABF7-D08932AB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A7A69-F1C1-40A9-B64D-DE91EA87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Endpoint/cloud/web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A131F8-2A01-4762-AA13-D972FE1F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57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Analyst Automation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D78639-075A-4A1C-B090-E57FFE54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ACAB2-9C52-476A-8250-432B7D56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Read-only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4E6EBD-5A8E-4ABB-B6B6-E68FA49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365D4-7CD6-4696-835F-0A5F298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Prioritized findings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89574C-92B9-4BA6-AA69-2B25357E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39114-DFF3-49B1-A3DB-F11A3990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 generation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D05D7-7CC5-42D4-B9EA-4B558F7E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8B003E-281E-4BD5-B4EF-AC68D0A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Human-in-loop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B65954-696E-49FC-9CF7-1BE69AAD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The lab shows hands-on execution across the full SOC workflow: collect, normalize, detect, visualize, triage, and explain.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5E83A2-382B-4CD9-81D1-FE3AEF9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C633AA-86B0-438D-A3E1-6BE16B7E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5590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70EBF-AA15-4D9E-9771-7B2B4D81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B4FF1-150F-43B5-9658-4E6089DF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F4C88-9E6E-4FBB-ADF5-B1F75179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9AD94-5030-4A39-8913-8F94B207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End-to-End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48CB0-B21C-40BF-9677-EF58321E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E3544-BFFB-4D82-AF4B-C5E36A19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1DA47-0CE1-49A6-BCF7-2804998E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Telemetry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6EC1D-2806-4F49-9B0E-DC6231F8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Generated JSONL + optional live Windows/network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B275D-741A-44BC-832C-A9E8D79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71368-1378-4738-96B1-66BE87A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43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Splunk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FEC4B-56BA-4A53-A37B-5274DA75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622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Dockerized Enterprise, custom app, indexes, sourcetypes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47E9E-CCD8-478C-9604-045B9976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D0699-C246-43A2-B571-F3CD47FC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6E5EB-0E4B-4AC5-AF8B-BFCDFA05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SPL saved searches, lookups, dashboards, pivots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0C716-A532-447F-8EA3-39BBA8D8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764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30315-5108-4D75-B7CF-BDAB13B0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43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44EA0-552B-4C1A-839B-3FCF9A52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622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Runs detections, ranks findings, writes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25944-130E-4EB9-8132-5BCAA05E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8130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7E1D0-BDBB-48BE-B3B6-DF5E40E1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E63AF-2CB9-4F74-A0EE-EDD2CF5B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64CF58-E62D-495A-8106-BAAB187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0363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253D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AC096-CC66-4877-8FFE-4F62ED37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principle: the agent does not replace Splunk. It sits on top of Splunk searches and summarizes evidence for a human analyst.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16C71-1D87-4A8C-881C-DD2A68CB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95152-E565-4494-85D7-4E468C85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822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5ADCF6-37F1-45A7-ABF3-E9279E7D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21D7A-A942-41A0-9C91-01586DBF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314AD-476D-477A-8991-F2593C9A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OPERATIONAL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25B4A-8202-4882-AC23-45212ABF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Runtime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BB4D9-CA84-4C58-9DC1-AE0787DE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fb7ea12b140ff"/>
          <a:stretch xmlns:a="http://schemas.openxmlformats.org/drawingml/2006/main"/>
        </p:blipFill>
        <p:spPr>
          <a:xfrm xmlns:a="http://schemas.openxmlformats.org/drawingml/2006/main">
            <a:off x="786765" y="1619250"/>
            <a:ext cx="6370320" cy="3981450"/>
          </a:xfrm>
          <a:prstGeom xmlns:a="http://schemas.openxmlformats.org/drawingml/2006/main" prst="roundRect">
            <a:avLst>
              <a:gd name="adj" fmla="val 191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DEC9E-5B94-4AB4-83D1-C6B133A1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66875"/>
            <a:ext cx="3524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C26B2-5787-4E71-9EE8-6675FAF4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Splunk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0F2AD-9823-4B62-9333-A840A381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http://localhost:8000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D05BE-4242-4985-B4CC-E0E586F5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00375"/>
            <a:ext cx="3524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D97F9-FC0B-45A8-A74E-926D3FF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Exposed 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F6DE3-9C6A-4C04-8654-CEAF398E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8000 Web</a:t>
            </a:r>
          </a:p>
          <a:p xmlns:a="http://schemas.openxmlformats.org/drawingml/2006/main">
            <a:pPr algn="l">
              <a:defRPr sz="142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8089 Management API</a:t>
            </a:r>
          </a:p>
          <a:p xmlns:a="http://schemas.openxmlformats.org/drawingml/2006/main">
            <a:pPr algn="l">
              <a:defRPr sz="142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8088 HEC</a:t>
            </a:r>
          </a:p>
          <a:p xmlns:a="http://schemas.openxmlformats.org/drawingml/2006/main">
            <a:pPr algn="l">
              <a:defRPr sz="142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5514 UDP Syslog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C920-1C24-4B0C-AEDD-6C41B89C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14875"/>
            <a:ext cx="3524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B54EF-36D6-4610-9DF7-E503516B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Repeatable setup via Docker Compose and PowerShell install script.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5360A-ACA2-46BF-AD8A-81518A7E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1B142-53BC-4EB0-A06D-C1B33ED7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0323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6B105A-49CE-4E2C-AD73-FD0E4CF2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FCA64-3D01-4C86-AA3C-97EAE144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39084-70A2-4C0D-AD03-141908EC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TELEMETRY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6E89C-754F-46E1-B3FF-3B521E61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Indexed Data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1F7E2-6968-49B6-8031-7558EC1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1a8c68dfc4ff0"/>
          <a:stretch xmlns:a="http://schemas.openxmlformats.org/drawingml/2006/main"/>
        </p:blipFill>
        <p:spPr>
          <a:xfrm xmlns:a="http://schemas.openxmlformats.org/drawingml/2006/main">
            <a:off x="628650" y="1547217"/>
            <a:ext cx="6905625" cy="4316016"/>
          </a:xfrm>
          <a:prstGeom xmlns:a="http://schemas.openxmlformats.org/drawingml/2006/main" prst="roundRect">
            <a:avLst>
              <a:gd name="adj" fmla="val 17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82F18-A130-4C6E-A96D-365D6C87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8B412-D763-49C2-9706-D03C4859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478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273,360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99E41-3099-42A5-B640-B788AE2F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Total indexed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7482D-DFAB-4C55-A15F-1524BA4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042C9-F208-4BAE-B122-96938ACD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766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FB978-4172-4949-91D1-0537FD43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Telemetry domains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87084-0EDA-456E-823F-1EF3373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0329B-22DD-4C79-A290-E7D5D8BE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053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0DF6D-26A7-4C96-957F-94AAD62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57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Normalized sourcetypes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68ED6-866F-4031-B27B-0B2DCB34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76B82-0CAF-4EA3-B719-E7D659B0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8462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40F202-C2EA-4BB7-A71A-1A948349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B780-1B34-41D2-8A11-018DFAA9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BA974-C13E-49E8-9F05-6E2185BD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VISUAL ANALYTICS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F7341-095C-440A-A647-A4339A30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Dashboard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200AA-84F2-467E-973D-4A09E976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5d012807748ce"/>
          <a:stretch xmlns:a="http://schemas.openxmlformats.org/drawingml/2006/main"/>
        </p:blipFill>
        <p:spPr>
          <a:xfrm xmlns:a="http://schemas.openxmlformats.org/drawingml/2006/main">
            <a:off x="6000750" y="1875234"/>
            <a:ext cx="5429250" cy="3393281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34F56-B134-4D37-8A44-FBDC6534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AF2CB-4DB2-4EED-A28D-E339CA63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5737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SOC Overview: high-level triage and investigation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1D28C-DF06-4BD2-A975-10FFA484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816BC-289D-42C5-B691-F576D2C0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 and Identity: brute force, spray, impossible travel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B5F0C-45B8-4CE6-9B82-7DD2B602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F767D-7906-48D2-96D2-CA6A381E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2417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Web/API Security: attacks, risky clients, response 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8AAB1-063F-4464-89A5-91BF8F2F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2C1E3-6D3B-432D-A6F2-7CD2D3DA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5757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Endpoint Detection: LOLBins, PowerShell, egress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E6356-0D24-4EA1-8EDC-BB7E76F1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47AB2-5535-45EE-9BB7-399A1160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9097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Security: IAM-style escalation and API errors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F43BF-05BB-4F31-ACB9-E36C5BA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DA316-D81D-4096-9F6D-D2060DBD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9884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A2B30-81CD-43A3-9B40-FB4DF2AB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D39B1-49C9-4ECD-836E-28850330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BD52A-E1D3-40E4-8331-551BD5CE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DETECTION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6316D-70A8-420D-BEDE-7CA0988F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SPL Detection Library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5B158-768C-4197-B90C-7322443B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d7ab8f526434f"/>
          <a:stretch xmlns:a="http://schemas.openxmlformats.org/drawingml/2006/main"/>
        </p:blipFill>
        <p:spPr>
          <a:xfrm xmlns:a="http://schemas.openxmlformats.org/drawingml/2006/main">
            <a:off x="6381750" y="1909763"/>
            <a:ext cx="4953000" cy="3095625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2EF52-E919-4FD1-AA7F-09B00DF6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49530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0C634-8013-429C-AF01-9EBB84CF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Detection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38D57-92BE-4247-B645-21B2E756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FD1E5-C8C3-4967-A082-E8CBBA53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57175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Brute force and password spray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C4443-AEA3-4349-8FE9-7E5E64A6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50434-0F46-44AC-9980-16CF5AFF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718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Impossible travel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9004C-0330-4A36-9886-555EAF09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D34C6-30A3-4168-8B01-121D02FE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7185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Suspicious PowerShell and LOLBins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E692C-D11F-4711-8BD7-3709ADC5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40F3C-5EA3-49B4-B796-92C5566C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719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Endpoint egress to risky 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60B0F-B59C-4D85-BD61-7EB9B4EB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6BBB9-C601-4578-82CF-6B0EECFA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7195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privilege escalation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A99E0-9308-424B-9537-D055586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12AF0-9C89-4E74-8E98-C4005BBC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720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Risky web/API clients and beaconing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454FB-5B3D-4BCE-AD3B-6B0525C7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SPL patterns: stats, eval, spath, streamstats, lookup, iplocation, top, rare, timechart, and normalized field extraction.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FA0C6-4076-4890-A297-A672060E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87BEE-F228-4845-81CC-9EFF8DAB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6472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FAF38D-40C3-40BE-B867-2CF29FAC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EB718-BB0E-466C-995A-6040DD77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B0DBD-EACF-4E1A-8C17-4269E238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TRIAGE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FC46E-0718-43D8-9983-12DDC5D5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Agentic SOC Analyst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346FB-8E4B-4E84-9C11-88891C5F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a928892b9479e"/>
          <a:stretch xmlns:a="http://schemas.openxmlformats.org/drawingml/2006/main"/>
        </p:blipFill>
        <p:spPr>
          <a:xfrm xmlns:a="http://schemas.openxmlformats.org/drawingml/2006/main">
            <a:off x="609600" y="1541859"/>
            <a:ext cx="6191250" cy="3869531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08166-1F2C-4E71-A3A1-96CCA377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1AF9F-300D-4717-BFEE-2C1B3C5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F305D-B5A0-4E1F-92D0-88761321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Select detection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4C9E3-0CE6-424A-83A7-95296E05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38425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70DE4-107B-4425-AA63-FDFD9EB2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90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7078A-533D-4CBA-B649-12FA0342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Run SPL via Splunk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62F58-05F1-4B22-91A5-307D40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4330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BAE7B-85C8-4F7E-ABBA-2CCD9470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95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71CB0-0BDA-40F5-86C2-5860DC37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Rank and summarize findings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54CAE-C6E7-4816-AD19-CAB1193F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48175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A0108-614B-4973-A1B6-63C7BF65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005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C591E-9F84-4368-AC31-9E7F9B85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Write MD, HTML, JSON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D9835-F396-40C5-B9FA-121083CC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721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Guardrail: read-only, human-in-the-loop, no blocking, no quarantine, no destructive endpoint actions.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7D673-C03C-4532-A54B-86A55B78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35550-FCE9-405E-9CA0-15E41803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77792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2A7A8E-7BD8-4C43-89B5-5F92F0E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FFE51-9C29-474C-9514-60974CF1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E6D88-562E-4990-B06E-E78DC5FD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REPEATABLE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AD3C3-DCFE-4E87-BAAE-DD374C6F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Script and Process Catalog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313FD-4A01-4960-87D0-33916CF2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61452-6C0F-42BF-83CB-CB9172D8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038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BA471-FBB1-4247-BD8F-4CA5B144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73CBD-E2EA-4D61-B0B3-15C011A8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02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docker compose up -d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4D485-FFB8-4336-B5A5-2E3ED002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038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003C4-75E2-4D3C-A5A8-1A32FDCB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Install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E9DB7-0F3D-4807-BB06-9BBDA93D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669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.\scripts\Install-LabIntoContainer.ps1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DC97D-793C-43DE-87AE-4B646540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038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99B6D-26A3-40D8-AF5B-C82FA131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400C9-22FF-4EAC-85CC-98B5D9E0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37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splunk search "index=lab_* | stats count by index"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A8CA0-51EC-4113-9414-9FC8907F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038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3938A-60F8-4BDE-8E49-1D5E89A3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F5ECB-5605-4F24-93A7-47E93B8E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004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.\scripts\Run-AgentDashboard.ps1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34164-5DAA-4CC5-BDD0-91D601B1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038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66C37-D3AF-4FF7-8825-A0474A76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BB655-A0CF-4B8C-A5EC-9F5A70C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672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.\scripts\Watch-NetConnections.ps1 -Seconds 300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1B1C7-98C7-4803-B047-C073A03A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38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D6606-4121-427E-A720-B10E6D32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Packet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7C5B67-0E92-4A20-A35C-80609928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339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.\scripts\Start-PktmonCapture.ps1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5802D-D958-4885-B651-CCE8DD32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48FC2-2BA8-4B44-B396-590CEC3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2262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594A4-19EB-4068-8847-2B8F7F93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1032C-3961-4F8F-A3C7-E81F8016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9DA1D-05F7-4776-9DCF-C35C24C6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352E4-D76E-4D2F-9E34-BBB4AB7C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Recommended Live Demo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5BAC3-AEBA-4150-9211-1D2D7929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91F8A-68D0-4B5C-ABEA-B8E23927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43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24D19-0026-451B-8E2F-5F96B079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666875"/>
            <a:ext cx="862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 Docker Desktop and verify the container.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68149-EE56-4469-9B9A-F1910534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57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E9964-E8D3-4996-977A-40F7F55A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81225"/>
            <a:ext cx="862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Splunk Web and select the Splunk Mastery Lab app.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404E4-82CF-42C1-9DC8-D3086FBC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71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A5AC7-2E27-4600-9643-BB3C3740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95575"/>
            <a:ext cx="862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 SOC Overview, then pivot by domain.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5EE0E-8A94-4AA6-A82E-BEDAF1D9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37C33-2D2D-4E8B-9384-72D5881D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09925"/>
            <a:ext cx="862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the five-index validation SPL 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99119-E8B9-4F5A-BECD-F0984E23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2F897-C4C5-4AE7-B51B-AF3605A2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24275"/>
            <a:ext cx="862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the agent and open the HTML report.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A063D-6EC8-40F7-BC09-F219D3BB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1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CC18C-B884-4612-B4BA-6C322880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38625"/>
            <a:ext cx="862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 findings, risk, and next pivots.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90601-67CF-4D39-8B15-2E9887DB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4FFDA-BA39-4671-82E6-AE04E714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52975"/>
            <a:ext cx="862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 with GitHub README, screenshots, and docs.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2C199-2F91-4852-A0C0-04F4E716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429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7CC29-96DF-495C-BF0D-BD7FF919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Interview framing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2795A-4D78-4CF9-8AB5-B0072E96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Lead with process, then prove it with screenshots and SPL.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76A82-04D6-4C28-B67D-A4CBE911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E2268-98B0-440C-9D48-E711EBC9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75213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E4C63-8D6C-4485-A8DD-537F0D5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8272C-4317-4835-9CD4-4F043577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C6C66-B5B2-42C2-A8ED-356EE723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DEFENSIVE POSTURE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854D1-1E88-445B-9669-E3B6C46F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Safety, Ethics, and Extensibility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23277-FC4F-4AD6-A167-0E9B8EF9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3EE09-9672-4F14-8BE8-8CAACD95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66A0B-88F9-44DA-B20E-A34A6776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Safe by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6AF65-B6A3-4F01-BA84-AF60C3F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A1681-88EE-4724-9547-630F2B4B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193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Read-only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64332-5507-47FF-A1DE-7FB9773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A38D0-135C-4D56-9E2C-F2E45B1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19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auto-containment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C7340-51B0-4065-862F-97DC84C5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7BD2D-A0D6-468C-B414-01D94BA3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destructive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8418E-8E2C-4072-9632-71A2D2CE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31385-7945-4D26-A0E4-D34347E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review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E48B0-F236-498E-B19A-D0786DE4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DB6FB-6CEB-47FD-8DC2-405D13E3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47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Ethical 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235FD-DA32-4EDB-AD8E-564495C6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FCAFD-DAC4-448F-AE64-34566137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193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Owned devices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A89A8-AE1D-4464-9EB4-BEA3073C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EA551-B188-4E64-8B75-970B2D00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19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Permission required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E529A-1A6E-4B4A-BC1A-91C8DED6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5B724-F6CA-4A1E-BE0A-80B43C58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194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lab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3498F-5F2B-4CC5-8504-0073FDA4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0BF2B-CA21-4291-8E1F-71111A3D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195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Transparent docs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ABE615-BAA2-4569-91A4-63AD248D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4C9283-4151-48F3-A8F1-DF6D3170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47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F6F52F-52B8-407C-9688-F6C04A8B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DFCEF-9940-4D04-912F-BF4A35CA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193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Add more datasets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01D2FA-38C2-41F1-B7DD-AE6795F6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665299-4B8E-44F2-ABA9-1030A45F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19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Add SOAR-style cases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2C392-7E5F-4CD4-AA20-A11F20EB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6F024E-DDFF-4B36-809B-2D30C5BE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194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Tune detections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FEFA0-BC7A-4F95-A13B-834F272C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059E81-B341-4CF1-820B-F09B3A7D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95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Add CI 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E227A1-3B13-438E-9CCE-327A25D1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292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EF7"/>
                </a:solidFill>
                <a:latin typeface="Aptos"/>
                <a:ea typeface="Aptos"/>
                <a:cs typeface="Aptos"/>
              </a:rPr>
              <a:t>The lab is intentionally practical: strong enough for portfolio proof, bounded enough for safe demonstration.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4B7A73-3DE2-401A-A96B-9B6366F7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86147B-678C-4A83-8910-EE73F5C8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69696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1272F-FC44-4501-829E-A0161AD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1F80B-BBE7-4761-B298-B4AE8970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ac4199ff4433e"/>
          <a:stretch xmlns:a="http://schemas.openxmlformats.org/drawingml/2006/main"/>
        </p:blipFill>
        <p:spPr>
          <a:xfrm xmlns:a="http://schemas.openxmlformats.org/drawingml/2006/main">
            <a:off x="6715125" y="1531144"/>
            <a:ext cx="4762500" cy="2976563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0466E-A747-4264-9A62-C51ADC83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Portfolio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1026E-A0BF-40C1-B939-A4EEF251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Built to prove Splunk mastery through working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49393-6E46-4BEC-B6EF-C4633CBA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1D04F-A6CD-4881-9125-4153D58F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Operational Splunk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24F5C-BB5C-4535-8E67-7F777237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47DE6-B97D-4B03-9497-784AB2A2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62325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Realistic security telemetry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E3242-E47F-4690-9A3B-D07C2B20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4B727-CB6D-4ADA-8A68-BC6625A7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9525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Dashboards and SPL detections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AA503-768F-4FD1-8DB6-7539B753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4159A-6E75-4757-9A65-5B83F3F0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76725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 triage report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C5E81-7CD2-4F07-A4ED-DB4F3163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86559-1EF7-4199-B158-19C4738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Recruiter-ready README and screenshots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ED47F-2BF7-414B-8503-60D773A6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EF7"/>
                </a:solidFill>
                <a:latin typeface="Aptos"/>
                <a:ea typeface="Aptos"/>
                <a:cs typeface="Aptos"/>
              </a:rPr>
              <a:t>GitHub title: Splunk SOC Mastery Lab with Agentic Threat Triage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184A9-93AB-4076-AF30-450C0AA4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Splunk SOC Mastery Lab | Agentic Threat Triage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E1F60-1D78-465C-9903-A3F98AAA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7385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2026-06-18T20:06:21.4800000Z</dcterms:created>
  <dcterms:modified xsi:type="dcterms:W3CDTF">2026-06-18T20:06:21.4800000Z</dcterms:modified>
</coreProperties>
</file>